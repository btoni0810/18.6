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  <p:sldMasterId id="2147483661" r:id="rId2"/>
  </p:sldMasterIdLst>
  <p:notesMasterIdLst>
    <p:notesMasterId r:id="rId6"/>
  </p:notesMasterIdLst>
  <p:sldIdLst>
    <p:sldId id="256" r:id="rId3"/>
    <p:sldId id="333" r:id="rId4"/>
    <p:sldId id="33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B9BD5"/>
    <a:srgbClr val="002F75"/>
    <a:srgbClr val="D00034"/>
    <a:srgbClr val="002F7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18" autoAdjust="0"/>
    <p:restoredTop sz="96144" autoAdjust="0"/>
  </p:normalViewPr>
  <p:slideViewPr>
    <p:cSldViewPr snapToGrid="0">
      <p:cViewPr varScale="1">
        <p:scale>
          <a:sx n="82" d="100"/>
          <a:sy n="82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47B5-ADAF-41B0-8E25-798150F70C6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3EC7-D770-4470-B266-BEBD01C74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23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732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365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63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41204"/>
            <a:ext cx="9389882" cy="908429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2127243"/>
            <a:ext cx="9389882" cy="4227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 sz="1600" b="0"/>
            </a:lvl2pPr>
            <a:lvl3pPr>
              <a:defRPr sz="1600" b="0"/>
            </a:lvl3pPr>
          </a:lstStyle>
          <a:p>
            <a:r>
              <a:rPr kumimoji="1" lang="zh-CN" altLang="en-US" sz="1600" dirty="0">
                <a:latin typeface="+mj-ea"/>
                <a:ea typeface="+mj-ea"/>
                <a:sym typeface="等线"/>
              </a:rPr>
              <a:t>正文内容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-</a:t>
            </a:r>
            <a:r>
              <a:rPr kumimoji="1" lang="zh-CN" altLang="en-US" sz="1600" dirty="0">
                <a:latin typeface="+mj-ea"/>
                <a:ea typeface="+mj-ea"/>
                <a:sym typeface="等线"/>
              </a:rPr>
              <a:t>字号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12-18</a:t>
            </a:r>
            <a:endParaRPr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D06F396-41A5-42E3-5F20-72B3893B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045" y="6318435"/>
            <a:ext cx="7403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5386DCD-524C-4D6B-849A-07B12901B9AD}" type="slidenum">
              <a:rPr lang="zh-CN" altLang="en-US" smtClean="0"/>
              <a:pPr/>
              <a:t>‹#›</a:t>
            </a:fld>
            <a:r>
              <a:rPr lang="en-US" altLang="zh-CN" dirty="0"/>
              <a:t>/N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621F51-BC94-CE0C-016B-69E5DF3456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882"/>
            <a:ext cx="868837" cy="48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5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53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64917"/>
            <a:ext cx="7315200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主标题文本样式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5417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副标题文本样式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lang="zh-CN" altLang="zh-CN" sz="1600" smtClean="0">
                <a:effectLst/>
              </a:defRPr>
            </a:lvl1pPr>
          </a:lstStyle>
          <a:p>
            <a:pPr lvl="0"/>
            <a:r>
              <a:rPr lang="zh-CN" altLang="en-US" dirty="0"/>
              <a:t>正文文本样式</a:t>
            </a:r>
            <a:r>
              <a:rPr lang="en-US" altLang="zh-CN" dirty="0"/>
              <a:t>——</a:t>
            </a:r>
          </a:p>
          <a:p>
            <a:pPr lvl="0"/>
            <a:r>
              <a:rPr lang="zh-CN" altLang="en-US" dirty="0"/>
              <a:t>作为全球领先的智能制造及工业互联网整体解决方案服务商，工业富联始终坚持深耕中国、布局全球的生产和经营策略，业务范围覆盖数据全流程，在全球产业链中构建起国内与国外的桥梁，并基于多年来在精益管理、供应链管理、柔性生产方面的经验，实现国内国外双循环，解决国内制造、原材料、销售在外问题，发挥桥梁纽带作用。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0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8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22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95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05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661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37457" y="2303115"/>
            <a:ext cx="5645728" cy="18948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34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274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88869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584C0D-BE4E-4BC2-9EDE-B69FD77C6CB1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594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41204"/>
            <a:ext cx="9389882" cy="908429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2127243"/>
            <a:ext cx="9389882" cy="4227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 sz="1600" b="0"/>
            </a:lvl2pPr>
            <a:lvl3pPr>
              <a:defRPr sz="1600" b="0"/>
            </a:lvl3pPr>
          </a:lstStyle>
          <a:p>
            <a:r>
              <a:rPr kumimoji="1" lang="zh-CN" altLang="en-US" sz="1600" dirty="0">
                <a:latin typeface="+mj-ea"/>
                <a:ea typeface="+mj-ea"/>
                <a:sym typeface="等线"/>
              </a:rPr>
              <a:t>正文内容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-</a:t>
            </a:r>
            <a:r>
              <a:rPr kumimoji="1" lang="zh-CN" altLang="en-US" sz="1600" dirty="0">
                <a:latin typeface="+mj-ea"/>
                <a:ea typeface="+mj-ea"/>
                <a:sym typeface="等线"/>
              </a:rPr>
              <a:t>字号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12-18</a:t>
            </a:r>
            <a:endParaRPr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D06F396-41A5-42E3-5F20-72B3893B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045" y="6318435"/>
            <a:ext cx="7403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思源黑体 CN Regular" panose="020B0500000000000000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思源黑体 CN Regular" panose="020B0500000000000000" pitchFamily="34" charset="-122"/>
                <a:cs typeface="+mn-cs"/>
              </a:rPr>
              <a:t>/N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621F51-BC94-CE0C-016B-69E5DF3456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882"/>
            <a:ext cx="868837" cy="48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75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19FD35-CA62-4B7C-AD62-337432DD5B9B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997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64917"/>
            <a:ext cx="7315200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主标题文本样式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5417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副标题文本样式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lang="zh-CN" altLang="zh-CN" sz="1600" smtClean="0">
                <a:effectLst/>
              </a:defRPr>
            </a:lvl1pPr>
          </a:lstStyle>
          <a:p>
            <a:pPr lvl="0"/>
            <a:r>
              <a:rPr lang="zh-CN" altLang="en-US" dirty="0"/>
              <a:t>正文文本样式</a:t>
            </a:r>
            <a:r>
              <a:rPr lang="en-US" altLang="zh-CN" dirty="0"/>
              <a:t>——</a:t>
            </a:r>
          </a:p>
          <a:p>
            <a:pPr lvl="0"/>
            <a:r>
              <a:rPr lang="zh-CN" altLang="en-US" dirty="0"/>
              <a:t>作为全球领先的智能制造及工业互联网整体解决方案服务商，工业富联始终坚持深耕中国、布局全球的生产和经营策略，业务范围覆盖数据全流程，在全球产业链中构建起国内与国外的桥梁，并基于多年来在精益管理、供应链管理、柔性生产方面的经验，实现国内国外双循环，解决国内制造、原材料、销售在外问题，发挥桥梁纽带作用。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708C2F-3403-4825-8C4D-5962122BB6E9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211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5CD7AF-6E1F-4068-BFE5-01BA72FCB20A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9053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889BC6-4612-424E-949C-CE8C9C3353E8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707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024A9-C9CE-42AB-BB0F-702BD459DE93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8795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6A6F2C-56C5-4B0E-AD4A-1DD9CED0DC5F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8568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A963CC-1AD2-4E52-95BA-7FC121397678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845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37457" y="2303115"/>
            <a:ext cx="5645728" cy="18948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77DF6-581C-470F-9EC7-1448BA5CB3CC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4943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E34141-2C67-4235-B0A3-CF2E2F4BE2AF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7420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098235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2BC33C-A113-43F4-B133-BEB11E68D4CF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2026/6/18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4CCD9-AF14-4FD0-8E12-CF82B8F58377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3534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1457432" y="6601968"/>
            <a:ext cx="734568" cy="256032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t>/N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64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848411" y="461817"/>
            <a:ext cx="9341963" cy="79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848411" y="2055043"/>
            <a:ext cx="9341964" cy="4318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63622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思源黑体 CN Heavy" panose="020B0A00000000000000" pitchFamily="34" charset="-122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848411" y="461817"/>
            <a:ext cx="9341963" cy="79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848411" y="2055043"/>
            <a:ext cx="9341964" cy="4318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153770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思源黑体 CN Heavy" panose="020B0A00000000000000" pitchFamily="34" charset="-122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634599" y="4548906"/>
            <a:ext cx="4746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hangingPunct="0"/>
            <a:r>
              <a:rPr lang="en-US" altLang="zh-TW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Prepared: PE Toan</a:t>
            </a:r>
            <a:endParaRPr lang="vi-VN" altLang="zh-TW" b="1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hangingPunct="0"/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20</a:t>
            </a:r>
            <a:r>
              <a:rPr lang="vi-VN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2</a:t>
            </a:r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6</a:t>
            </a:r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年</a:t>
            </a:r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06</a:t>
            </a:r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月</a:t>
            </a:r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18</a:t>
            </a:r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日</a:t>
            </a:r>
            <a:endParaRPr lang="en-US" altLang="zh-TW" b="1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等线"/>
            </a:endParaRPr>
          </a:p>
        </p:txBody>
      </p:sp>
      <p:sp>
        <p:nvSpPr>
          <p:cNvPr id="5" name="文本框 6"/>
          <p:cNvSpPr txBox="1"/>
          <p:nvPr/>
        </p:nvSpPr>
        <p:spPr>
          <a:xfrm>
            <a:off x="418012" y="1040456"/>
            <a:ext cx="761545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a typeface="思源黑体 CN Heavy" panose="020B0A00000000000000" pitchFamily="34" charset="-122"/>
              </a:rPr>
              <a:t>SFG025080</a:t>
            </a:r>
            <a:r>
              <a:rPr lang="en-US" altLang="en-US" sz="3600" b="1" dirty="0">
                <a:solidFill>
                  <a:schemeClr val="bg1"/>
                </a:solidFill>
                <a:ea typeface="思源黑体 CN Heavy" panose="020B0A00000000000000" pitchFamily="34" charset="-122"/>
              </a:rPr>
              <a:t> – ICT</a:t>
            </a:r>
          </a:p>
          <a:p>
            <a:r>
              <a:rPr lang="en-US" sz="2800" b="1" dirty="0">
                <a:solidFill>
                  <a:schemeClr val="bg1"/>
                </a:solidFill>
                <a:ea typeface="思源黑体 CN Heavy" panose="020B0A00000000000000" pitchFamily="34" charset="-122"/>
              </a:rPr>
              <a:t>Step=1432 Name=C16 C27 Loc=A1 Hi-P= 12 Lo-P= 1 +LM:40% -LM:40%</a:t>
            </a:r>
            <a:endParaRPr lang="en-US" altLang="en-US" sz="2800" b="1" dirty="0">
              <a:solidFill>
                <a:schemeClr val="bg1"/>
              </a:solidFill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398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">
            <a:extLst>
              <a:ext uri="{FF2B5EF4-FFF2-40B4-BE49-F238E27FC236}">
                <a16:creationId xmlns:a16="http://schemas.microsoft.com/office/drawing/2014/main" id="{961AD900-218E-4A2B-8E37-7D77229E5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820276"/>
              </p:ext>
            </p:extLst>
          </p:nvPr>
        </p:nvGraphicFramePr>
        <p:xfrm>
          <a:off x="0" y="817604"/>
          <a:ext cx="12225377" cy="5857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592">
                  <a:extLst>
                    <a:ext uri="{9D8B030D-6E8A-4147-A177-3AD203B41FA5}">
                      <a16:colId xmlns:a16="http://schemas.microsoft.com/office/drawing/2014/main" val="1717938269"/>
                    </a:ext>
                  </a:extLst>
                </a:gridCol>
                <a:gridCol w="909744">
                  <a:extLst>
                    <a:ext uri="{9D8B030D-6E8A-4147-A177-3AD203B41FA5}">
                      <a16:colId xmlns:a16="http://schemas.microsoft.com/office/drawing/2014/main" val="2807392099"/>
                    </a:ext>
                  </a:extLst>
                </a:gridCol>
                <a:gridCol w="717364">
                  <a:extLst>
                    <a:ext uri="{9D8B030D-6E8A-4147-A177-3AD203B41FA5}">
                      <a16:colId xmlns:a16="http://schemas.microsoft.com/office/drawing/2014/main" val="2151682411"/>
                    </a:ext>
                  </a:extLst>
                </a:gridCol>
                <a:gridCol w="6979557">
                  <a:extLst>
                    <a:ext uri="{9D8B030D-6E8A-4147-A177-3AD203B41FA5}">
                      <a16:colId xmlns:a16="http://schemas.microsoft.com/office/drawing/2014/main" val="4110505547"/>
                    </a:ext>
                  </a:extLst>
                </a:gridCol>
                <a:gridCol w="2820120">
                  <a:extLst>
                    <a:ext uri="{9D8B030D-6E8A-4147-A177-3AD203B41FA5}">
                      <a16:colId xmlns:a16="http://schemas.microsoft.com/office/drawing/2014/main" val="4252437796"/>
                    </a:ext>
                  </a:extLst>
                </a:gridCol>
              </a:tblGrid>
              <a:tr h="292181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Problem</a:t>
                      </a:r>
                      <a:r>
                        <a:rPr lang="zh-CN" altLang="en-US" sz="1100" b="1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100" b="1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description(5W2H)</a:t>
                      </a:r>
                      <a:endParaRPr lang="zh-TW" altLang="en-US" sz="1100" b="1">
                        <a:solidFill>
                          <a:schemeClr val="bg1"/>
                        </a:solidFill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Root cause analysis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改善對策</a:t>
                      </a:r>
                      <a:r>
                        <a:rPr lang="en-US" altLang="zh-CN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(Improvement Action)</a:t>
                      </a:r>
                      <a:endParaRPr lang="en-US" altLang="zh-TW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578778957"/>
                  </a:ext>
                </a:extLst>
              </a:tr>
              <a:tr h="3383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When: </a:t>
                      </a:r>
                      <a:r>
                        <a:rPr lang="en-US" altLang="zh-CN" sz="110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2026-06-18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3663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1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Who</a:t>
                      </a:r>
                      <a:r>
                        <a:rPr lang="vi-VN" altLang="zh-CN" sz="1100" b="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:</a:t>
                      </a:r>
                      <a:endParaRPr lang="en-US" altLang="zh-CN" sz="1100" b="0" dirty="0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93663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PE</a:t>
                      </a:r>
                      <a:r>
                        <a:rPr lang="en-US" altLang="zh-CN" sz="1100" b="0" baseline="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Toan</a:t>
                      </a:r>
                      <a:endParaRPr lang="en-US" altLang="zh-CN" sz="1100" dirty="0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3663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1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Where</a:t>
                      </a:r>
                      <a:r>
                        <a:rPr lang="en-US" altLang="zh-CN" sz="110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93663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F06</a:t>
                      </a:r>
                    </a:p>
                  </a:txBody>
                  <a:tcPr marL="0" marR="0" marT="0" marB="0" anchor="ctr"/>
                </a:tc>
                <a:tc row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u="non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Defect symptom: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1100" b="0" u="non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Step=1432 Name=C16 C27 Loc=A1 Hi-P= 12 Lo-P= 1 +LM:40% -LM:40%	</a:t>
                      </a:r>
                      <a:endParaRPr lang="en-US" altLang="en-US" sz="1100" b="0" u="non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zh-CN" sz="1100" b="1" u="non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zh-CN" sz="1100" b="1" u="non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100" b="1" u="non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FA process:</a:t>
                      </a:r>
                    </a:p>
                    <a:p>
                      <a:pPr marL="228600" marR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 check (CCD) shows no a</a:t>
                      </a:r>
                      <a:r>
                        <a:rPr lang="vi-V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bnormality.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Retested at ICT station, same failure still occurred</a:t>
                      </a:r>
                      <a:endParaRPr lang="en-US" sz="1100" dirty="0"/>
                    </a:p>
                    <a:p>
                      <a:pPr marL="228600" marR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100" dirty="0"/>
                        <a:t>Check Log: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dirty="0"/>
                        <a:t>SMT data review found no abnormal trends, repair history, or test machine concentration.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/>
                        <a:t>X-ray inspection: No abnormalities detected.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sz="1100" dirty="0"/>
                        <a:t>Measurement at C16 showed no abnormal differences between the NG and OK boards.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1" i="1" u="sng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Conclusion:</a:t>
                      </a:r>
                      <a:r>
                        <a:rPr lang="en-US" sz="1400" b="1" i="1" u="sng" kern="1200" baseline="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Suspected</a:t>
                      </a:r>
                      <a:r>
                        <a:rPr lang="en-US" sz="1400" b="1" i="1" u="sng" kern="120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to be caused by NTF.</a:t>
                      </a:r>
                      <a:endParaRPr lang="en-US" sz="1400" b="1" i="1" u="sng" kern="120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121920" marR="121920" marT="60960" marB="60960"/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100" dirty="0"/>
                        <a:t>The issue has been fed back to SPE for further investigation to determine inspection approach and improvement measures. (</a:t>
                      </a:r>
                      <a:r>
                        <a:rPr lang="en-US" sz="1100" dirty="0" err="1"/>
                        <a:t>SPE_Pract</a:t>
                      </a:r>
                      <a:r>
                        <a:rPr lang="en-US" sz="1100" dirty="0"/>
                        <a:t> – </a:t>
                      </a: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ongoing</a:t>
                      </a:r>
                      <a:r>
                        <a:rPr lang="en-US" sz="1100" dirty="0"/>
                        <a:t>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877671165"/>
                  </a:ext>
                </a:extLst>
              </a:tr>
              <a:tr h="461338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1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altLang="zh-CN" sz="11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hat</a:t>
                      </a:r>
                      <a:endParaRPr lang="zh-TW" altLang="en-US" sz="1100" b="1" dirty="0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SFG025080</a:t>
                      </a:r>
                    </a:p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ICT Station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850900"/>
                  </a:ext>
                </a:extLst>
              </a:tr>
              <a:tr h="50440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1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altLang="zh-CN" sz="11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hy</a:t>
                      </a:r>
                      <a:endParaRPr lang="zh-TW" altLang="en-US" sz="1100" b="1" dirty="0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100" b="1" i="0" u="none" kern="1200" baseline="0" dirty="0">
                          <a:solidFill>
                            <a:srgbClr val="FF0000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Suspected to be caused by NTF.</a:t>
                      </a:r>
                      <a:endParaRPr lang="en-US" sz="1100" b="1" i="0" u="none" kern="1200" baseline="0" dirty="0">
                        <a:solidFill>
                          <a:srgbClr val="FF0000"/>
                        </a:solidFill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3690"/>
                  </a:ext>
                </a:extLst>
              </a:tr>
              <a:tr h="1536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How</a:t>
                      </a:r>
                    </a:p>
                  </a:txBody>
                  <a:tcPr marL="121920" marR="121920" marT="60960" marB="6096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vi-VN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2616V862901904</a:t>
                      </a:r>
                    </a:p>
                    <a:p>
                      <a:pPr marL="0" algn="ctr" defTabSz="914400" rtl="0" eaLnBrk="1" latinLnBrk="0" hangingPunct="1"/>
                      <a:r>
                        <a:rPr lang="vi-VN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2616V863437717</a:t>
                      </a:r>
                    </a:p>
                    <a:p>
                      <a:pPr marL="0" algn="ctr" defTabSz="914400" rtl="0" eaLnBrk="1" latinLnBrk="0" hangingPunct="1"/>
                      <a:r>
                        <a:rPr lang="vi-VN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2616V863721016</a:t>
                      </a:r>
                    </a:p>
                    <a:p>
                      <a:pPr marL="0" algn="ctr" defTabSz="914400" rtl="0" eaLnBrk="1" latinLnBrk="0" hangingPunct="1"/>
                      <a:r>
                        <a:rPr lang="vi-VN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2616V864270202</a:t>
                      </a:r>
                    </a:p>
                    <a:p>
                      <a:pPr marL="0" algn="ctr" defTabSz="914400" rtl="0" eaLnBrk="1" latinLnBrk="0" hangingPunct="1"/>
                      <a:r>
                        <a:rPr lang="vi-VN" sz="11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2616V864286413</a:t>
                      </a:r>
                      <a:endParaRPr lang="pl-PL" sz="1100" kern="120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986258"/>
                  </a:ext>
                </a:extLst>
              </a:tr>
              <a:tr h="27246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How</a:t>
                      </a:r>
                      <a:r>
                        <a:rPr lang="en-US" altLang="zh-TW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Much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DFR: 5/4357 ~ 0.11%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(from 00:00 AM-06/17</a:t>
                      </a:r>
                      <a:endParaRPr lang="en-US" altLang="zh-TW" sz="11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TW" sz="11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-&gt; 00:30 AM -06/18)</a:t>
                      </a:r>
                      <a:endParaRPr lang="en-US" altLang="zh-TW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0083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FBFEB9ED-E028-4197-87BB-41C7D391A50D}"/>
              </a:ext>
            </a:extLst>
          </p:cNvPr>
          <p:cNvSpPr/>
          <p:nvPr/>
        </p:nvSpPr>
        <p:spPr>
          <a:xfrm>
            <a:off x="4376779" y="961391"/>
            <a:ext cx="35051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43736" y="421360"/>
            <a:ext cx="90729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F75"/>
                </a:solidFill>
                <a:ea typeface="思源黑体 CN Heavy" panose="020B0A00000000000000" pitchFamily="34" charset="-122"/>
              </a:rPr>
              <a:t>SFG025080</a:t>
            </a:r>
            <a:r>
              <a:rPr lang="en-US" altLang="en-US" sz="1600" b="1" dirty="0">
                <a:solidFill>
                  <a:srgbClr val="002F75"/>
                </a:solidFill>
                <a:ea typeface="思源黑体 CN Heavy" panose="020B0A00000000000000" pitchFamily="34" charset="-122"/>
              </a:rPr>
              <a:t> – ICT - </a:t>
            </a:r>
            <a:r>
              <a:rPr lang="en-US" sz="1600" b="1" dirty="0">
                <a:solidFill>
                  <a:srgbClr val="002F75"/>
                </a:solidFill>
                <a:ea typeface="思源黑体 CN Heavy" panose="020B0A00000000000000" pitchFamily="34" charset="-122"/>
              </a:rPr>
              <a:t>Step=1432 Name=C16 C27 Loc=A1 Hi-P= 12 Lo-P= 1 +LM:40% -LM:40%</a:t>
            </a:r>
            <a:endParaRPr lang="en-US" altLang="en-US" sz="1600" b="1" dirty="0">
              <a:solidFill>
                <a:srgbClr val="002F75"/>
              </a:solidFill>
              <a:ea typeface="思源黑体 CN Heavy" panose="020B0A00000000000000" pitchFamily="34" charset="-122"/>
            </a:endParaRPr>
          </a:p>
          <a:p>
            <a:endParaRPr lang="en-US" altLang="en-US" sz="1600" b="1" dirty="0">
              <a:solidFill>
                <a:srgbClr val="002F75"/>
              </a:solidFill>
              <a:ea typeface="思源黑体 CN Heavy" panose="020B0A00000000000000" pitchFamily="34" charset="-122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577876" y="1646750"/>
            <a:ext cx="6864705" cy="447797"/>
            <a:chOff x="2348734" y="2023475"/>
            <a:chExt cx="6864705" cy="447797"/>
          </a:xfrm>
        </p:grpSpPr>
        <p:grpSp>
          <p:nvGrpSpPr>
            <p:cNvPr id="68" name="Group 67"/>
            <p:cNvGrpSpPr/>
            <p:nvPr/>
          </p:nvGrpSpPr>
          <p:grpSpPr>
            <a:xfrm>
              <a:off x="2348734" y="2023477"/>
              <a:ext cx="6864705" cy="447795"/>
              <a:chOff x="2319078" y="2196988"/>
              <a:chExt cx="6880775" cy="470633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364481" y="2202926"/>
                <a:ext cx="748104" cy="464695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Retest</a:t>
                </a:r>
              </a:p>
              <a:p>
                <a:pPr algn="ctr"/>
                <a:r>
                  <a:rPr lang="en-US" sz="1400" dirty="0"/>
                  <a:t>FAIL 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2319078" y="2202153"/>
                <a:ext cx="851146" cy="464695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Check</a:t>
                </a:r>
              </a:p>
              <a:p>
                <a:pPr algn="ctr"/>
                <a:r>
                  <a:rPr lang="en-US" sz="1400" dirty="0"/>
                  <a:t>VI_CDD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9417B339-6680-4BB0-9E7B-170ECF99E0F2}"/>
                  </a:ext>
                </a:extLst>
              </p:cNvPr>
              <p:cNvCxnSpPr>
                <a:cxnSpLocks/>
                <a:stCxn id="26" idx="3"/>
                <a:endCxn id="16" idx="1"/>
              </p:cNvCxnSpPr>
              <p:nvPr/>
            </p:nvCxnSpPr>
            <p:spPr>
              <a:xfrm>
                <a:off x="3170224" y="2434501"/>
                <a:ext cx="194257" cy="7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/>
              <p:cNvSpPr/>
              <p:nvPr/>
            </p:nvSpPr>
            <p:spPr>
              <a:xfrm>
                <a:off x="6405924" y="2196989"/>
                <a:ext cx="890641" cy="464695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Measure 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9417B339-6680-4BB0-9E7B-170ECF99E0F2}"/>
                  </a:ext>
                </a:extLst>
              </p:cNvPr>
              <p:cNvCxnSpPr>
                <a:cxnSpLocks/>
                <a:stCxn id="16" idx="3"/>
                <a:endCxn id="36" idx="1"/>
              </p:cNvCxnSpPr>
              <p:nvPr/>
            </p:nvCxnSpPr>
            <p:spPr>
              <a:xfrm flipV="1">
                <a:off x="4112585" y="2429334"/>
                <a:ext cx="220281" cy="59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9417B339-6680-4BB0-9E7B-170ECF99E0F2}"/>
                  </a:ext>
                </a:extLst>
              </p:cNvPr>
              <p:cNvCxnSpPr>
                <a:cxnSpLocks/>
                <a:stCxn id="19" idx="3"/>
              </p:cNvCxnSpPr>
              <p:nvPr/>
            </p:nvCxnSpPr>
            <p:spPr>
              <a:xfrm flipV="1">
                <a:off x="7296565" y="2429333"/>
                <a:ext cx="1757529" cy="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D6DF4A6-E9DC-A828-950D-81F721FAEE1A}"/>
                  </a:ext>
                </a:extLst>
              </p:cNvPr>
              <p:cNvSpPr/>
              <p:nvPr/>
            </p:nvSpPr>
            <p:spPr>
              <a:xfrm>
                <a:off x="7549888" y="2196988"/>
                <a:ext cx="1649965" cy="464695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i="1" u="sng" kern="1200" baseline="0" dirty="0">
                    <a:solidFill>
                      <a:schemeClr val="tx1"/>
                    </a:solidFill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Suspected to be caused by NTF</a:t>
                </a:r>
                <a:endParaRPr lang="en-US" sz="1400" b="1" i="1" dirty="0">
                  <a:solidFill>
                    <a:schemeClr val="tx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AC04A06-2483-49DA-BF7A-019051E45588}"/>
                </a:ext>
              </a:extLst>
            </p:cNvPr>
            <p:cNvSpPr/>
            <p:nvPr/>
          </p:nvSpPr>
          <p:spPr>
            <a:xfrm>
              <a:off x="5442524" y="2023476"/>
              <a:ext cx="733517" cy="44214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X_Ray</a:t>
              </a:r>
              <a:endParaRPr lang="en-US" sz="1400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FE30FA6-0356-4CA2-8EB9-D642BAC64395}"/>
                </a:ext>
              </a:extLst>
            </p:cNvPr>
            <p:cNvCxnSpPr>
              <a:cxnSpLocks/>
              <a:stCxn id="36" idx="3"/>
              <a:endCxn id="30" idx="1"/>
            </p:cNvCxnSpPr>
            <p:nvPr/>
          </p:nvCxnSpPr>
          <p:spPr>
            <a:xfrm>
              <a:off x="5186259" y="2244548"/>
              <a:ext cx="25626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FEFE867-3293-4052-8683-A623078BAE8A}"/>
                </a:ext>
              </a:extLst>
            </p:cNvPr>
            <p:cNvSpPr/>
            <p:nvPr/>
          </p:nvSpPr>
          <p:spPr>
            <a:xfrm>
              <a:off x="4357816" y="2023475"/>
              <a:ext cx="828443" cy="44214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Check</a:t>
              </a:r>
            </a:p>
            <a:p>
              <a:pPr algn="ctr"/>
              <a:r>
                <a:rPr lang="en-US" sz="1400"/>
                <a:t>Log</a:t>
              </a:r>
              <a:endParaRPr lang="en-US" sz="1400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D146780-FA13-4143-A195-C2AA81CE57A5}"/>
                </a:ext>
              </a:extLst>
            </p:cNvPr>
            <p:cNvCxnSpPr>
              <a:cxnSpLocks/>
              <a:stCxn id="30" idx="3"/>
              <a:endCxn id="19" idx="1"/>
            </p:cNvCxnSpPr>
            <p:nvPr/>
          </p:nvCxnSpPr>
          <p:spPr>
            <a:xfrm>
              <a:off x="6176041" y="2244549"/>
              <a:ext cx="249990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6F3DD7-3528-BE8D-A8DD-ECBD5BACB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045154"/>
              </p:ext>
            </p:extLst>
          </p:nvPr>
        </p:nvGraphicFramePr>
        <p:xfrm>
          <a:off x="8204055" y="4760239"/>
          <a:ext cx="4021322" cy="1676400"/>
        </p:xfrm>
        <a:graphic>
          <a:graphicData uri="http://schemas.openxmlformats.org/drawingml/2006/table">
            <a:tbl>
              <a:tblPr/>
              <a:tblGrid>
                <a:gridCol w="1098418">
                  <a:extLst>
                    <a:ext uri="{9D8B030D-6E8A-4147-A177-3AD203B41FA5}">
                      <a16:colId xmlns:a16="http://schemas.microsoft.com/office/drawing/2014/main" val="1658321145"/>
                    </a:ext>
                  </a:extLst>
                </a:gridCol>
                <a:gridCol w="821425">
                  <a:extLst>
                    <a:ext uri="{9D8B030D-6E8A-4147-A177-3AD203B41FA5}">
                      <a16:colId xmlns:a16="http://schemas.microsoft.com/office/drawing/2014/main" val="1797400193"/>
                    </a:ext>
                  </a:extLst>
                </a:gridCol>
                <a:gridCol w="1432877">
                  <a:extLst>
                    <a:ext uri="{9D8B030D-6E8A-4147-A177-3AD203B41FA5}">
                      <a16:colId xmlns:a16="http://schemas.microsoft.com/office/drawing/2014/main" val="3848704874"/>
                    </a:ext>
                  </a:extLst>
                </a:gridCol>
                <a:gridCol w="668602">
                  <a:extLst>
                    <a:ext uri="{9D8B030D-6E8A-4147-A177-3AD203B41FA5}">
                      <a16:colId xmlns:a16="http://schemas.microsoft.com/office/drawing/2014/main" val="4032259146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Measurement results from the test station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12830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 (0.820 mF ±40%)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 (Ω)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5752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2616V862871806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PASS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0.492 ~ 1.148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1.131mF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9973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2619U1BKC29CKB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PASS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0.492 ~ 1.148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1.125mF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7860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2616V863721016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0.492 ~ 1.148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1.148mF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1280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2616V862901904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0.492 ~ 1.148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1.154mF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598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2616V864270202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0.492 ~ 1.148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1.152mF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272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2616V864286413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0.492 ~ 1.148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1.159mF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0908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2616V863437717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0.492 ~ 1.148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1.151mF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48496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DDD1F9-D677-6010-5C7D-A974491D3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358020"/>
              </p:ext>
            </p:extLst>
          </p:nvPr>
        </p:nvGraphicFramePr>
        <p:xfrm>
          <a:off x="8911034" y="3350448"/>
          <a:ext cx="2984500" cy="1188720"/>
        </p:xfrm>
        <a:graphic>
          <a:graphicData uri="http://schemas.openxmlformats.org/drawingml/2006/table">
            <a:tbl>
              <a:tblPr/>
              <a:tblGrid>
                <a:gridCol w="1786898">
                  <a:extLst>
                    <a:ext uri="{9D8B030D-6E8A-4147-A177-3AD203B41FA5}">
                      <a16:colId xmlns:a16="http://schemas.microsoft.com/office/drawing/2014/main" val="1813696419"/>
                    </a:ext>
                  </a:extLst>
                </a:gridCol>
                <a:gridCol w="598801">
                  <a:extLst>
                    <a:ext uri="{9D8B030D-6E8A-4147-A177-3AD203B41FA5}">
                      <a16:colId xmlns:a16="http://schemas.microsoft.com/office/drawing/2014/main" val="630565560"/>
                    </a:ext>
                  </a:extLst>
                </a:gridCol>
                <a:gridCol w="598801">
                  <a:extLst>
                    <a:ext uri="{9D8B030D-6E8A-4147-A177-3AD203B41FA5}">
                      <a16:colId xmlns:a16="http://schemas.microsoft.com/office/drawing/2014/main" val="442384184"/>
                    </a:ext>
                  </a:extLst>
                </a:gridCol>
              </a:tblGrid>
              <a:tr h="198120"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Measurements on the PCB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35783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Measurement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PASS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FAIL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48104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[R] GND → 12V_PCIE(C16)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2.248KΩ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2.121KΩ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02661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[R] 12V_PCIE(C16) → GND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3.07KΩ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3KΩ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19276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[D] GND → 12V_PCIE(C16)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0.33V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0.32V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90285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[D] 12V_PCIE(C16) → GND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0.38V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0.38V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82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AE3109-6BF8-1152-54C7-52F9FF52A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272802"/>
              </p:ext>
            </p:extLst>
          </p:nvPr>
        </p:nvGraphicFramePr>
        <p:xfrm>
          <a:off x="2799201" y="5201400"/>
          <a:ext cx="5232400" cy="1235239"/>
        </p:xfrm>
        <a:graphic>
          <a:graphicData uri="http://schemas.openxmlformats.org/drawingml/2006/table">
            <a:tbl>
              <a:tblPr/>
              <a:tblGrid>
                <a:gridCol w="1155700">
                  <a:extLst>
                    <a:ext uri="{9D8B030D-6E8A-4147-A177-3AD203B41FA5}">
                      <a16:colId xmlns:a16="http://schemas.microsoft.com/office/drawing/2014/main" val="314051627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42051429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9358379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212694905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3754573729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993469015"/>
                    </a:ext>
                  </a:extLst>
                </a:gridCol>
              </a:tblGrid>
              <a:tr h="2446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LINE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GROUP_NAME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IN_STATION_TIME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4243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2616V862901904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116736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SFG025080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SPI_T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2026-06-16 02:22:55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6406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2616V863721016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116736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SFG025080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SPI_T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2026-06-16 23:59:03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5396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2616V864270202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116736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SFG025080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SPI_T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2026-06-17 10:48:34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82083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2616V864286413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116736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SFG025080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SPI_T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2026-06-17 10:53:18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51449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2616V863437717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116736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SFG025080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SPI_T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2026-06-17 11:40:45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569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92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33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18937</TotalTime>
  <Words>458</Words>
  <Application>Microsoft Office PowerPoint</Application>
  <PresentationFormat>Widescreen</PresentationFormat>
  <Paragraphs>140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等线</vt:lpstr>
      <vt:lpstr>Microsoft YaHei</vt:lpstr>
      <vt:lpstr>Aptos Narrow</vt:lpstr>
      <vt:lpstr>Arial</vt:lpstr>
      <vt:lpstr>Calibri</vt:lpstr>
      <vt:lpstr>Wingdings</vt:lpstr>
      <vt:lpstr>思源黑体 CN Heavy</vt:lpstr>
      <vt:lpstr>思源黑体 CN Normal</vt:lpstr>
      <vt:lpstr>思源黑体 CN Regular</vt:lpstr>
      <vt:lpstr>Office 主题​​</vt:lpstr>
      <vt:lpstr>1_Office 主题​​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ZMY</dc:creator>
  <cp:lastModifiedBy>Toan</cp:lastModifiedBy>
  <cp:revision>1026</cp:revision>
  <dcterms:created xsi:type="dcterms:W3CDTF">2022-05-19T09:53:32Z</dcterms:created>
  <dcterms:modified xsi:type="dcterms:W3CDTF">2026-06-18T00:27:59Z</dcterms:modified>
</cp:coreProperties>
</file>