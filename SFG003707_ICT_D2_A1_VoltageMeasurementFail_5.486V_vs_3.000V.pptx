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333" r:id="rId4"/>
    <p:sldId id="33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6144" autoAdjust="0"/>
  </p:normalViewPr>
  <p:slideViewPr>
    <p:cSldViewPr snapToGrid="0">
      <p:cViewPr varScale="1">
        <p:scale>
          <a:sx n="73" d="100"/>
          <a:sy n="73" d="100"/>
        </p:scale>
        <p:origin x="7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3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2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6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r>
              <a:rPr lang="en-US" altLang="zh-CN" dirty="0"/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7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886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84C0D-BE4E-4BC2-9EDE-B69FD77C6CB1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594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7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19FD35-CA62-4B7C-AD62-337432DD5B9B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997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708C2F-3403-4825-8C4D-5962122BB6E9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211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CD7AF-6E1F-4068-BFE5-01BA72FCB20A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905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889BC6-4612-424E-949C-CE8C9C3353E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707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024A9-C9CE-42AB-BB0F-702BD459DE93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879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6A6F2C-56C5-4B0E-AD4A-1DD9CED0DC5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568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A963CC-1AD2-4E52-95BA-7FC12139767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84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77DF6-581C-470F-9EC7-1448BA5CB3CC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4943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4141-2C67-4235-B0A3-CF2E2F4BE2A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742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0982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BC33C-A113-43F4-B133-BEB11E68D4C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2026/6/4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4CCD9-AF14-4FD0-8E12-CF82B8F58377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3534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457432" y="6601968"/>
            <a:ext cx="734568" cy="256032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/N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64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636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5377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34599" y="4548906"/>
            <a:ext cx="474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hangingPunct="0"/>
            <a:r>
              <a:rPr lang="en-US" altLang="zh-TW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Prepared: PE Toan</a:t>
            </a:r>
            <a:endParaRPr lang="vi-VN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hangingPunct="0"/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20</a:t>
            </a:r>
            <a:r>
              <a:rPr lang="vi-VN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6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06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04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等线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418012" y="1040456"/>
            <a:ext cx="76154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SFG003707</a:t>
            </a:r>
            <a:r>
              <a:rPr lang="en-US" altLang="en-US" sz="36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 – ICT</a:t>
            </a:r>
          </a:p>
          <a:p>
            <a:r>
              <a:rPr lang="en-US" sz="28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Step= 600 Name=D2 Loc=A1 Hi-P= 3 Lo-P= 292 +LM:3.200V -LM:2.700V Act-V= 5.000V Std-V= 3.000V </a:t>
            </a:r>
            <a:r>
              <a:rPr lang="en-US" sz="2800" b="1" dirty="0" err="1">
                <a:solidFill>
                  <a:schemeClr val="bg1"/>
                </a:solidFill>
                <a:ea typeface="思源黑体 CN Heavy" panose="020B0A00000000000000" pitchFamily="34" charset="-122"/>
              </a:rPr>
              <a:t>Msr</a:t>
            </a:r>
            <a:r>
              <a:rPr lang="en-US" sz="28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-V= 5.486V Dev=82.86%	</a:t>
            </a:r>
            <a:endParaRPr lang="en-US" altLang="en-US" sz="2800" b="1" dirty="0">
              <a:solidFill>
                <a:schemeClr val="bg1"/>
              </a:solidFill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398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">
            <a:extLst>
              <a:ext uri="{FF2B5EF4-FFF2-40B4-BE49-F238E27FC236}">
                <a16:creationId xmlns:a16="http://schemas.microsoft.com/office/drawing/2014/main" id="{961AD900-218E-4A2B-8E37-7D77229E5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21899"/>
              </p:ext>
            </p:extLst>
          </p:nvPr>
        </p:nvGraphicFramePr>
        <p:xfrm>
          <a:off x="0" y="817604"/>
          <a:ext cx="12225377" cy="585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92">
                  <a:extLst>
                    <a:ext uri="{9D8B030D-6E8A-4147-A177-3AD203B41FA5}">
                      <a16:colId xmlns:a16="http://schemas.microsoft.com/office/drawing/2014/main" val="1717938269"/>
                    </a:ext>
                  </a:extLst>
                </a:gridCol>
                <a:gridCol w="909744">
                  <a:extLst>
                    <a:ext uri="{9D8B030D-6E8A-4147-A177-3AD203B41FA5}">
                      <a16:colId xmlns:a16="http://schemas.microsoft.com/office/drawing/2014/main" val="2807392099"/>
                    </a:ext>
                  </a:extLst>
                </a:gridCol>
                <a:gridCol w="717364">
                  <a:extLst>
                    <a:ext uri="{9D8B030D-6E8A-4147-A177-3AD203B41FA5}">
                      <a16:colId xmlns:a16="http://schemas.microsoft.com/office/drawing/2014/main" val="2151682411"/>
                    </a:ext>
                  </a:extLst>
                </a:gridCol>
                <a:gridCol w="6979557">
                  <a:extLst>
                    <a:ext uri="{9D8B030D-6E8A-4147-A177-3AD203B41FA5}">
                      <a16:colId xmlns:a16="http://schemas.microsoft.com/office/drawing/2014/main" val="4110505547"/>
                    </a:ext>
                  </a:extLst>
                </a:gridCol>
                <a:gridCol w="2820120">
                  <a:extLst>
                    <a:ext uri="{9D8B030D-6E8A-4147-A177-3AD203B41FA5}">
                      <a16:colId xmlns:a16="http://schemas.microsoft.com/office/drawing/2014/main" val="4252437796"/>
                    </a:ext>
                  </a:extLst>
                </a:gridCol>
              </a:tblGrid>
              <a:tr h="292181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Problem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description(5W2H)</a:t>
                      </a:r>
                      <a:endParaRPr lang="zh-TW" altLang="en-US" sz="1100" b="1">
                        <a:solidFill>
                          <a:schemeClr val="bg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Root cause analysis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改善對策</a:t>
                      </a:r>
                      <a:r>
                        <a:rPr lang="en-US" altLang="zh-CN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(Improvement Action)</a:t>
                      </a:r>
                      <a:endParaRPr lang="en-US" altLang="zh-TW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578778957"/>
                  </a:ext>
                </a:extLst>
              </a:tr>
              <a:tr h="3383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When: </a:t>
                      </a: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2026-06-04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Who</a:t>
                      </a:r>
                      <a:r>
                        <a:rPr lang="vi-VN" altLang="zh-CN" sz="1100" b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  <a:endParaRPr lang="en-US" altLang="zh-CN" sz="1100" b="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</a:t>
                      </a:r>
                      <a:r>
                        <a:rPr lang="en-US" altLang="zh-CN" sz="1100" b="0" baseline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Toan</a:t>
                      </a:r>
                      <a:endParaRPr lang="en-US" altLang="zh-CN" sz="110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Where</a:t>
                      </a: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F06</a:t>
                      </a: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u="none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Defect </a:t>
                      </a:r>
                      <a:r>
                        <a:rPr lang="en-US" altLang="zh-CN" sz="1100" b="1" u="none" kern="1200" baseline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symptom: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100" b="0" u="none" kern="1200" baseline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Step= 600 Name=D2 Loc=A1 Hi-P= 3 Lo-P= 292 +LM:3.200V -LM:2.700V Act-V= 5.000V Std-V= 3.000V Msr-V= 5.486V Dev=82.86%	</a:t>
                      </a:r>
                      <a:endParaRPr lang="en-US" altLang="en-US" sz="1100" b="0" u="none" kern="1200" baseline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100" b="1" u="none" kern="1200" baseline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100" b="1" u="none" kern="1200" baseline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u="none" kern="1200" baseline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FA </a:t>
                      </a:r>
                      <a:r>
                        <a:rPr lang="en-US" altLang="zh-CN" sz="1100" b="1" u="none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process</a:t>
                      </a:r>
                      <a:r>
                        <a:rPr lang="en-US" altLang="zh-CN" sz="1100" b="1" u="none" kern="1200" baseline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:</a:t>
                      </a:r>
                      <a:endParaRPr lang="en-US" altLang="zh-CN" sz="1100" b="1" u="non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check (CCD) shows no a</a:t>
                      </a:r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bnormality.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Retested at ICT station, same failure still occurred</a:t>
                      </a:r>
                      <a:endParaRPr lang="en-US" sz="1100" dirty="0"/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dirty="0"/>
                        <a:t>Check Log: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dirty="0"/>
                        <a:t>SMT data review found no abnormal trends, repair history, or test machine concentration.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smtClean="0"/>
                        <a:t>X-ray </a:t>
                      </a:r>
                      <a:r>
                        <a:rPr lang="en-US" sz="1100" dirty="0"/>
                        <a:t>inspection: No abnormalities detected.</a:t>
                      </a: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100" dirty="0"/>
                        <a:t>Replaced the D2 component and retested ICT; the result passed.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sz="1100" dirty="0"/>
                        <a:t>Measurement at D2 showed a difference gap between the NG and OK boards.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sz="1100" dirty="0"/>
                        <a:t>Performed component swap between the OK board and the NG board: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endParaRPr lang="en-US" sz="1100" smtClean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endParaRPr lang="en-US" sz="11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9"/>
                        <a:tabLst/>
                        <a:defRPr/>
                      </a:pPr>
                      <a:endParaRPr lang="en-US" sz="11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9"/>
                        <a:tabLst/>
                        <a:defRPr/>
                      </a:pP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100" smtClean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9"/>
                        <a:tabLst/>
                        <a:defRPr/>
                      </a:pP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1" i="1" u="sng" kern="1200" baseline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Conclusion:</a:t>
                      </a:r>
                      <a:r>
                        <a:rPr lang="en-US" sz="1400" b="1" i="1" u="sng" kern="1200" baseline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Suspected </a:t>
                      </a:r>
                      <a:r>
                        <a:rPr lang="en-US" sz="1400" b="1" i="1" u="sng" kern="120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to be caused by NTF.</a:t>
                      </a:r>
                      <a:endParaRPr lang="en-US" sz="1400" b="1" i="1" u="sng" kern="120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121920" marR="121920" marT="60960" marB="60960"/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dirty="0"/>
                        <a:t>The issue has been fed back to SPE for further investigation to determine inspection approach and improvement measures. (</a:t>
                      </a:r>
                      <a:r>
                        <a:rPr lang="en-US" sz="1100" dirty="0" err="1"/>
                        <a:t>SPE_Pract</a:t>
                      </a:r>
                      <a:r>
                        <a:rPr lang="en-US" sz="1100" dirty="0"/>
                        <a:t> – 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ongoing</a:t>
                      </a:r>
                      <a:r>
                        <a:rPr lang="en-US" sz="1100" dirty="0"/>
                        <a:t>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877671165"/>
                  </a:ext>
                </a:extLst>
              </a:tr>
              <a:tr h="461338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b="1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100" b="1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hat</a:t>
                      </a:r>
                      <a:endParaRPr lang="zh-TW" altLang="en-US" sz="1100" b="1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SFG003707</a:t>
                      </a:r>
                    </a:p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ICT Station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850900"/>
                  </a:ext>
                </a:extLst>
              </a:tr>
              <a:tr h="50440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b="1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100" b="1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hy</a:t>
                      </a:r>
                      <a:endParaRPr lang="zh-TW" altLang="en-US" sz="1100" b="1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100" b="1" i="0" u="none" kern="1200" baseline="0" dirty="0">
                          <a:solidFill>
                            <a:srgbClr val="FF0000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Suspected to be caused by NTF.</a:t>
                      </a:r>
                      <a:endParaRPr lang="en-US" sz="1100" b="1" i="0" u="none" kern="1200" baseline="0" dirty="0">
                        <a:solidFill>
                          <a:srgbClr val="FF0000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3690"/>
                  </a:ext>
                </a:extLst>
              </a:tr>
              <a:tr h="15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7pcs *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Step=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600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62261161473450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62261161476990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62261161477032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62261161477034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62261161477088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62261161477101</a:t>
                      </a:r>
                    </a:p>
                    <a:p>
                      <a:pPr marL="0" algn="ctr" defTabSz="914400" rtl="0" eaLnBrk="1" latinLnBrk="0" hangingPunct="1"/>
                      <a:r>
                        <a:rPr lang="pl-PL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62261161479464</a:t>
                      </a: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986258"/>
                  </a:ext>
                </a:extLst>
              </a:tr>
              <a:tr h="2724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  <a:r>
                        <a:rPr lang="en-US" altLang="zh-TW" sz="110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Much</a:t>
                      </a:r>
                      <a:endParaRPr lang="en-US" altLang="zh-TW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DFR: 7/5109 ~ 0.13%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(from 00:00 AM-06/03</a:t>
                      </a:r>
                      <a:endParaRPr lang="en-US" altLang="zh-TW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-&gt; 00:30 AM -06/04)</a:t>
                      </a:r>
                      <a:endParaRPr lang="en-US" altLang="zh-TW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008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376779" y="9613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63033" y="244657"/>
            <a:ext cx="90729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smtClean="0">
                <a:solidFill>
                  <a:srgbClr val="002F75"/>
                </a:solidFill>
                <a:ea typeface="思源黑体 CN Heavy" panose="020B0A00000000000000" pitchFamily="34" charset="-122"/>
              </a:rPr>
              <a:t>SFG003707</a:t>
            </a:r>
            <a:r>
              <a:rPr lang="en-US" altLang="en-US" sz="1600" b="1" smtClean="0">
                <a:solidFill>
                  <a:srgbClr val="002F75"/>
                </a:solidFill>
                <a:ea typeface="思源黑体 CN Heavy" panose="020B0A00000000000000" pitchFamily="34" charset="-122"/>
              </a:rPr>
              <a:t> – ICT – </a:t>
            </a:r>
            <a:r>
              <a:rPr lang="en-US" sz="1600" b="1" smtClean="0">
                <a:solidFill>
                  <a:srgbClr val="002F75"/>
                </a:solidFill>
                <a:ea typeface="思源黑体 CN Heavy" panose="020B0A00000000000000" pitchFamily="34" charset="-122"/>
              </a:rPr>
              <a:t>Step= 600 Name=D2 Loc=A1 Hi-P= 3 Lo-P= 292 +LM:3.200V -LM:2.700V Act-V= 5.000V Std-V= 3.000V Msr-V= 5.486V Dev=82.86%	</a:t>
            </a:r>
            <a:endParaRPr lang="en-US" altLang="en-US" sz="1600" b="1" dirty="0">
              <a:solidFill>
                <a:srgbClr val="002F75"/>
              </a:solidFill>
              <a:ea typeface="思源黑体 CN Heavy" panose="020B0A00000000000000" pitchFamily="34" charset="-122"/>
            </a:endParaRPr>
          </a:p>
        </p:txBody>
      </p:sp>
      <p:sp>
        <p:nvSpPr>
          <p:cNvPr id="5" name="AutoShape 6" descr="图片消息"/>
          <p:cNvSpPr>
            <a:spLocks noChangeAspect="1" noChangeArrowheads="1"/>
          </p:cNvSpPr>
          <p:nvPr/>
        </p:nvSpPr>
        <p:spPr bwMode="auto">
          <a:xfrm flipH="1">
            <a:off x="-1595613" y="-144463"/>
            <a:ext cx="1751188" cy="175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305694" y="1768886"/>
            <a:ext cx="7103003" cy="447797"/>
            <a:chOff x="2348734" y="2023475"/>
            <a:chExt cx="7103003" cy="447797"/>
          </a:xfrm>
        </p:grpSpPr>
        <p:grpSp>
          <p:nvGrpSpPr>
            <p:cNvPr id="68" name="Group 67"/>
            <p:cNvGrpSpPr/>
            <p:nvPr/>
          </p:nvGrpSpPr>
          <p:grpSpPr>
            <a:xfrm>
              <a:off x="2348734" y="2023477"/>
              <a:ext cx="7103003" cy="447795"/>
              <a:chOff x="2319078" y="2196988"/>
              <a:chExt cx="7119631" cy="47063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364481" y="2202926"/>
                <a:ext cx="748104" cy="46469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Retest</a:t>
                </a:r>
              </a:p>
              <a:p>
                <a:pPr algn="ctr"/>
                <a:r>
                  <a:rPr lang="en-US" sz="1400" dirty="0"/>
                  <a:t>FAIL 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319078" y="2202153"/>
                <a:ext cx="851146" cy="46469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Check</a:t>
                </a:r>
              </a:p>
              <a:p>
                <a:pPr algn="ctr"/>
                <a:r>
                  <a:rPr lang="en-US" sz="1400" dirty="0"/>
                  <a:t>VI_CDD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26" idx="3"/>
                <a:endCxn id="16" idx="1"/>
              </p:cNvCxnSpPr>
              <p:nvPr/>
            </p:nvCxnSpPr>
            <p:spPr>
              <a:xfrm>
                <a:off x="3170224" y="2434501"/>
                <a:ext cx="194257" cy="7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6405924" y="2196989"/>
                <a:ext cx="890641" cy="46469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Measure 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16" idx="3"/>
                <a:endCxn id="36" idx="1"/>
              </p:cNvCxnSpPr>
              <p:nvPr/>
            </p:nvCxnSpPr>
            <p:spPr>
              <a:xfrm flipV="1">
                <a:off x="4112585" y="2429334"/>
                <a:ext cx="220281" cy="59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19" idx="3"/>
              </p:cNvCxnSpPr>
              <p:nvPr/>
            </p:nvCxnSpPr>
            <p:spPr>
              <a:xfrm flipV="1">
                <a:off x="7296565" y="2429333"/>
                <a:ext cx="1757529" cy="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6DF4A6-E9DC-A828-950D-81F721FAEE1A}"/>
                  </a:ext>
                </a:extLst>
              </p:cNvPr>
              <p:cNvSpPr/>
              <p:nvPr/>
            </p:nvSpPr>
            <p:spPr>
              <a:xfrm>
                <a:off x="7549888" y="2196988"/>
                <a:ext cx="1888821" cy="46469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i="1" u="sng" kern="1200" baseline="0" smtClean="0">
                    <a:solidFill>
                      <a:schemeClr val="tx1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Suspected to be caused by NTF</a:t>
                </a:r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C04A06-2483-49DA-BF7A-019051E45588}"/>
                </a:ext>
              </a:extLst>
            </p:cNvPr>
            <p:cNvSpPr/>
            <p:nvPr/>
          </p:nvSpPr>
          <p:spPr>
            <a:xfrm>
              <a:off x="5442524" y="2023476"/>
              <a:ext cx="733517" cy="4421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mtClean="0"/>
                <a:t>X_Ray</a:t>
              </a:r>
              <a:endParaRPr lang="en-US" sz="14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FE30FA6-0356-4CA2-8EB9-D642BAC64395}"/>
                </a:ext>
              </a:extLst>
            </p:cNvPr>
            <p:cNvCxnSpPr>
              <a:cxnSpLocks/>
              <a:stCxn id="36" idx="3"/>
              <a:endCxn id="30" idx="1"/>
            </p:cNvCxnSpPr>
            <p:nvPr/>
          </p:nvCxnSpPr>
          <p:spPr>
            <a:xfrm>
              <a:off x="5186259" y="2244548"/>
              <a:ext cx="25626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EFE867-3293-4052-8683-A623078BAE8A}"/>
                </a:ext>
              </a:extLst>
            </p:cNvPr>
            <p:cNvSpPr/>
            <p:nvPr/>
          </p:nvSpPr>
          <p:spPr>
            <a:xfrm>
              <a:off x="4357816" y="2023475"/>
              <a:ext cx="828443" cy="4421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mtClean="0"/>
                <a:t>Check</a:t>
              </a:r>
            </a:p>
            <a:p>
              <a:pPr algn="ctr"/>
              <a:r>
                <a:rPr lang="en-US" sz="1400" smtClean="0"/>
                <a:t>Log</a:t>
              </a:r>
              <a:endParaRPr lang="en-US" sz="14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146780-FA13-4143-A195-C2AA81CE57A5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>
              <a:off x="6176041" y="2244549"/>
              <a:ext cx="249990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975850"/>
              </p:ext>
            </p:extLst>
          </p:nvPr>
        </p:nvGraphicFramePr>
        <p:xfrm>
          <a:off x="8482471" y="2266966"/>
          <a:ext cx="3568700" cy="2200275"/>
        </p:xfrm>
        <a:graphic>
          <a:graphicData uri="http://schemas.openxmlformats.org/drawingml/2006/table">
            <a:tbl>
              <a:tblPr/>
              <a:tblGrid>
                <a:gridCol w="1211831">
                  <a:extLst>
                    <a:ext uri="{9D8B030D-6E8A-4147-A177-3AD203B41FA5}">
                      <a16:colId xmlns:a16="http://schemas.microsoft.com/office/drawing/2014/main" val="3379201412"/>
                    </a:ext>
                  </a:extLst>
                </a:gridCol>
                <a:gridCol w="1688930">
                  <a:extLst>
                    <a:ext uri="{9D8B030D-6E8A-4147-A177-3AD203B41FA5}">
                      <a16:colId xmlns:a16="http://schemas.microsoft.com/office/drawing/2014/main" val="2287029536"/>
                    </a:ext>
                  </a:extLst>
                </a:gridCol>
                <a:gridCol w="667939">
                  <a:extLst>
                    <a:ext uri="{9D8B030D-6E8A-4147-A177-3AD203B41FA5}">
                      <a16:colId xmlns:a16="http://schemas.microsoft.com/office/drawing/2014/main" val="2263040435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Measurement results from the test station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6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Speck (</a:t>
                      </a: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Ω)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(</a:t>
                      </a: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Ω)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555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62161161181921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2.886V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0893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62061156710090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2.939V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2243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62261161473450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5.491V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675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62261161477088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3504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62261161477034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30429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62261161477032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2.676V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6587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62261161476990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2.686V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8243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62261161477101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2.685V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7794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62261161479464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+LM:3.200V -LM:2.700V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2.675V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537984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377621"/>
              </p:ext>
            </p:extLst>
          </p:nvPr>
        </p:nvGraphicFramePr>
        <p:xfrm>
          <a:off x="6450226" y="4507582"/>
          <a:ext cx="5654370" cy="2200275"/>
        </p:xfrm>
        <a:graphic>
          <a:graphicData uri="http://schemas.openxmlformats.org/drawingml/2006/table">
            <a:tbl>
              <a:tblPr/>
              <a:tblGrid>
                <a:gridCol w="2001814">
                  <a:extLst>
                    <a:ext uri="{9D8B030D-6E8A-4147-A177-3AD203B41FA5}">
                      <a16:colId xmlns:a16="http://schemas.microsoft.com/office/drawing/2014/main" val="403411108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972006001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720103240"/>
                    </a:ext>
                  </a:extLst>
                </a:gridCol>
                <a:gridCol w="1360206">
                  <a:extLst>
                    <a:ext uri="{9D8B030D-6E8A-4147-A177-3AD203B41FA5}">
                      <a16:colId xmlns:a16="http://schemas.microsoft.com/office/drawing/2014/main" val="1861242750"/>
                    </a:ext>
                  </a:extLst>
                </a:gridCol>
              </a:tblGrid>
              <a:tr h="20002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Measurements on the PCB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414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Measurement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PASS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239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62161161180448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62261161477034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62261161479464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458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GND → L_P0_TRAFFIC_L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1.905 M</a:t>
                      </a:r>
                      <a:r>
                        <a:rPr lang="el-G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1.946 M</a:t>
                      </a: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1.889 M</a:t>
                      </a: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0948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L_P0_TRAFFIC_L → GND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 M</a:t>
                      </a:r>
                      <a:r>
                        <a:rPr lang="el-G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31.47 M</a:t>
                      </a: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 M</a:t>
                      </a: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4573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GND → 3V3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270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1776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3V3 → GND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270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 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3593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GND → L_P0_TRAFFIC_L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0.880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0.889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0.886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5125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L_P0_TRAFFIC_L → GND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0343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GND → 3V3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0.211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0.209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0.211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7142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3V3 → GND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0.211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0.209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0.211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143375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243860"/>
              </p:ext>
            </p:extLst>
          </p:nvPr>
        </p:nvGraphicFramePr>
        <p:xfrm>
          <a:off x="2398078" y="4689462"/>
          <a:ext cx="3990638" cy="1148715"/>
        </p:xfrm>
        <a:graphic>
          <a:graphicData uri="http://schemas.openxmlformats.org/drawingml/2006/table">
            <a:tbl>
              <a:tblPr/>
              <a:tblGrid>
                <a:gridCol w="1146175">
                  <a:extLst>
                    <a:ext uri="{9D8B030D-6E8A-4147-A177-3AD203B41FA5}">
                      <a16:colId xmlns:a16="http://schemas.microsoft.com/office/drawing/2014/main" val="499199721"/>
                    </a:ext>
                  </a:extLst>
                </a:gridCol>
                <a:gridCol w="709275">
                  <a:extLst>
                    <a:ext uri="{9D8B030D-6E8A-4147-A177-3AD203B41FA5}">
                      <a16:colId xmlns:a16="http://schemas.microsoft.com/office/drawing/2014/main" val="3406557239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68307739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0126240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1476758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Swap component D2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28759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 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D2 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ICT 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Measurement 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62161161180448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OK Board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D2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2.682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6521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62261161477032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NG Board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D2 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PASS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2.838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953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9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3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18550</TotalTime>
  <Words>510</Words>
  <Application>Microsoft Office PowerPoint</Application>
  <PresentationFormat>Widescreen</PresentationFormat>
  <Paragraphs>154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等线</vt:lpstr>
      <vt:lpstr>微软雅黑</vt:lpstr>
      <vt:lpstr>微软雅黑</vt:lpstr>
      <vt:lpstr>黑体</vt:lpstr>
      <vt:lpstr>微軟正黑體</vt:lpstr>
      <vt:lpstr>思源黑体 CN Heavy</vt:lpstr>
      <vt:lpstr>思源黑体 CN Normal</vt:lpstr>
      <vt:lpstr>思源黑体 CN Regular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陶輝雄</cp:lastModifiedBy>
  <cp:revision>1022</cp:revision>
  <dcterms:created xsi:type="dcterms:W3CDTF">2022-05-19T09:53:32Z</dcterms:created>
  <dcterms:modified xsi:type="dcterms:W3CDTF">2026-06-04T06:34:31Z</dcterms:modified>
</cp:coreProperties>
</file>